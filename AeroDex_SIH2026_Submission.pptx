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548640" y="868680"/>
            <a:ext cx="7772400" cy="777240"/>
          </a:xfrm>
        </p:spPr>
        <p:txBody>
          <a:bodyPr/>
          <a:lstStyle/>
          <a:p>
            <a:pPr algn="l">
              <a:defRPr sz="2200" b="1">
                <a:solidFill>
                  <a:srgbClr val="0F2A4A"/>
                </a:solidFill>
                <a:latin typeface="Segoe UI"/>
              </a:defRPr>
            </a:pPr>
            <a:r>
              <a:t>AeroDex: Real-Time Airfare Price Index (APIx)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Automated Multi-Source Web Scraping &amp; Econometric Laspeyres/Fisher Indexing for MoSPI CPI Augmentation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1691640"/>
            <a:ext cx="6217920" cy="38404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400"/>
              </a:spcAft>
            </a:pPr>
            <a:r>
              <a:rPr sz="1000" b="1">
                <a:solidFill>
                  <a:srgbClr val="1E293B"/>
                </a:solidFill>
                <a:latin typeface="Segoe UI"/>
              </a:rPr>
              <a:t>•  Problem Statement ID: </a:t>
            </a:r>
            <a:r>
              <a:rPr sz="950" b="1">
                <a:solidFill>
                  <a:srgbClr val="1A56DB"/>
                </a:solidFill>
                <a:latin typeface="Segoe UI"/>
              </a:rPr>
              <a:t>SIH26056 (Ministry ID: 26056)</a:t>
            </a:r>
            <a:endParaRPr lang="en-US" dirty="0"/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1E293B"/>
                </a:solidFill>
                <a:latin typeface="Segoe UI"/>
              </a:rPr>
              <a:t>•  Problem Statement Title: </a:t>
            </a:r>
            <a:r>
              <a:rPr sz="950">
                <a:solidFill>
                  <a:srgbClr val="1E293B"/>
                </a:solidFill>
                <a:latin typeface="Segoe UI"/>
              </a:rPr>
              <a:t>Development of a Real-time Airfare Price Index for India through Automated Web Scraping of Airline and Online Travel Aggregator Portals for Augmentation of the Consumer Price Index (CPI)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1E293B"/>
                </a:solidFill>
                <a:latin typeface="Segoe UI"/>
              </a:rPr>
              <a:t>•  Ministry / Organization: </a:t>
            </a:r>
            <a:r>
              <a:rPr sz="950" b="1">
                <a:solidFill>
                  <a:srgbClr val="1A56DB"/>
                </a:solidFill>
                <a:latin typeface="Segoe UI"/>
              </a:rPr>
              <a:t>Ministry of Statistics and Programme Implementation (MoSPI) — DIID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1E293B"/>
                </a:solidFill>
                <a:latin typeface="Segoe UI"/>
              </a:rPr>
              <a:t>•  Theme &amp; Category: </a:t>
            </a:r>
            <a:r>
              <a:rPr sz="950">
                <a:solidFill>
                  <a:srgbClr val="1E293B"/>
                </a:solidFill>
                <a:latin typeface="Segoe UI"/>
              </a:rPr>
              <a:t>Travel &amp; Tourism  •  Category: Software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1E293B"/>
                </a:solidFill>
                <a:latin typeface="Segoe UI"/>
              </a:rPr>
              <a:t>•  Target CPI Sub-class: </a:t>
            </a:r>
            <a:r>
              <a:rPr sz="950">
                <a:solidFill>
                  <a:srgbClr val="1E293B"/>
                </a:solidFill>
                <a:latin typeface="Segoe UI"/>
              </a:rPr>
              <a:t>COICOP 07.3.3 (Passenger Transport by Air)  •  Base 2012 = 100.0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1E293B"/>
                </a:solidFill>
                <a:latin typeface="Segoe UI"/>
              </a:rPr>
              <a:t>•  Team ID: </a:t>
            </a:r>
            <a:r>
              <a:rPr sz="950">
                <a:solidFill>
                  <a:srgbClr val="1E293B"/>
                </a:solidFill>
                <a:latin typeface="Segoe UI"/>
              </a:rPr>
              <a:t>[Your Team ID]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1E293B"/>
                </a:solidFill>
                <a:latin typeface="Segoe UI"/>
              </a:rPr>
              <a:t>•  Team Name: </a:t>
            </a:r>
            <a:r>
              <a:rPr sz="950">
                <a:solidFill>
                  <a:srgbClr val="1E293B"/>
                </a:solidFill>
                <a:latin typeface="Segoe UI"/>
              </a:rPr>
              <a:t>[Your Registered Team Name]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548640" y="5623560"/>
            <a:ext cx="11094415" cy="1051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" y="5650992"/>
            <a:ext cx="107899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50" b="1">
                <a:solidFill>
                  <a:srgbClr val="1A56DB"/>
                </a:solidFill>
                <a:latin typeface="Segoe UI"/>
              </a:defRPr>
            </a:pPr>
            <a:r>
              <a:t>SOLUTION ARCHITECTURE &amp; ATS EVALUATION PIPELINE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5800" y="5897880"/>
            <a:ext cx="2395728" cy="658368"/>
          </a:xfrm>
          <a:prstGeom prst="rect">
            <a:avLst/>
          </a:prstGeom>
          <a:solidFill>
            <a:srgbClr val="EEF2FF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100"/>
              </a:spcAft>
              <a:defRPr sz="850" b="1">
                <a:solidFill>
                  <a:srgbClr val="6366F1"/>
                </a:solidFill>
                <a:latin typeface="Segoe UI"/>
              </a:defRPr>
            </a:pPr>
            <a:r>
              <a:t>1. Multi-Source Ingestion</a:t>
            </a:r>
          </a:p>
          <a:p>
            <a:pPr>
              <a:defRPr sz="720">
                <a:solidFill>
                  <a:srgbClr val="1E293B"/>
                </a:solidFill>
                <a:latin typeface="Segoe UI"/>
              </a:defRPr>
            </a:pPr>
            <a:r>
              <a:t>Google Flights, EaseMyTrip &amp; MMT</a:t>
            </a:r>
            <a:br/>
            <a:r>
              <a:t>RFC 9309 RobotGuard &amp; UA Rotator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127248" y="6099048"/>
            <a:ext cx="3200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100" b="1">
                <a:solidFill>
                  <a:srgbClr val="64748B"/>
                </a:solidFill>
                <a:latin typeface="Segoe UI"/>
              </a:defRPr>
            </a:pPr>
            <a:r>
              <a:t>➔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493008" y="5897880"/>
            <a:ext cx="2395728" cy="658368"/>
          </a:xfrm>
          <a:prstGeom prst="rect">
            <a:avLst/>
          </a:prstGeom>
          <a:solidFill>
            <a:srgbClr val="F0FDF4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100"/>
              </a:spcAft>
              <a:defRPr sz="850" b="1">
                <a:solidFill>
                  <a:srgbClr val="22C55E"/>
                </a:solidFill>
                <a:latin typeface="Segoe UI"/>
              </a:defRPr>
            </a:pPr>
            <a:r>
              <a:t>2. Microdata &amp; Fare Split</a:t>
            </a:r>
          </a:p>
          <a:p>
            <a:pPr>
              <a:defRPr sz="720">
                <a:solidFill>
                  <a:srgbClr val="1E293B"/>
                </a:solidFill>
                <a:latin typeface="Segoe UI"/>
              </a:defRPr>
            </a:pPr>
            <a:r>
              <a:t>Statutory: Base + YQ + UDF + GST</a:t>
            </a:r>
            <a:br/>
            <a:r>
              <a:t>14.5k SQLite Quotes &amp; Outlier Filter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34456" y="6099048"/>
            <a:ext cx="3200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100" b="1">
                <a:solidFill>
                  <a:srgbClr val="64748B"/>
                </a:solidFill>
                <a:latin typeface="Segoe UI"/>
              </a:defRPr>
            </a:pPr>
            <a:r>
              <a:t>➔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00216" y="5897880"/>
            <a:ext cx="2395728" cy="658368"/>
          </a:xfrm>
          <a:prstGeom prst="rect">
            <a:avLst/>
          </a:prstGeom>
          <a:solidFill>
            <a:srgbClr val="FEF9C3"/>
          </a:solidFill>
          <a:ln w="12700">
            <a:solidFill>
              <a:srgbClr val="CA8A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100"/>
              </a:spcAft>
              <a:defRPr sz="850" b="1">
                <a:solidFill>
                  <a:srgbClr val="CA8A04"/>
                </a:solidFill>
                <a:latin typeface="Segoe UI"/>
              </a:defRPr>
            </a:pPr>
            <a:r>
              <a:t>3. Laspeyres Index Engine</a:t>
            </a:r>
          </a:p>
          <a:p>
            <a:pPr>
              <a:defRPr sz="720">
                <a:solidFill>
                  <a:srgbClr val="1E293B"/>
                </a:solidFill>
                <a:latin typeface="Segoe UI"/>
              </a:defRPr>
            </a:pPr>
            <a:r>
              <a:t>DGCA Passenger Census (136M Flyers)</a:t>
            </a:r>
            <a:br/>
            <a:r>
              <a:t>Carrier Shares (6E 62%, AI 15%, etc.)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41664" y="6099048"/>
            <a:ext cx="3200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100" b="1">
                <a:solidFill>
                  <a:srgbClr val="64748B"/>
                </a:solidFill>
                <a:latin typeface="Segoe UI"/>
              </a:defRPr>
            </a:pPr>
            <a:r>
              <a:t>➔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107424" y="5897880"/>
            <a:ext cx="2395728" cy="658368"/>
          </a:xfrm>
          <a:prstGeom prst="rect">
            <a:avLst/>
          </a:prstGeom>
          <a:solidFill>
            <a:srgbClr val="F5F3FF"/>
          </a:solidFill>
          <a:ln w="1270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100"/>
              </a:spcAft>
              <a:defRPr sz="850" b="1">
                <a:solidFill>
                  <a:srgbClr val="9333EA"/>
                </a:solidFill>
                <a:latin typeface="Segoe UI"/>
              </a:defRPr>
            </a:pPr>
            <a:r>
              <a:t>4. MoSPI / RBI Augmentation</a:t>
            </a:r>
          </a:p>
          <a:p>
            <a:pPr>
              <a:defRPr sz="720">
                <a:solidFill>
                  <a:srgbClr val="1E293B"/>
                </a:solidFill>
                <a:latin typeface="Segoe UI"/>
              </a:defRPr>
            </a:pPr>
            <a:r>
              <a:t>Real-Time CPI Basis Points Nowcast</a:t>
            </a:r>
            <a:br/>
            <a:r>
              <a:t>Autonomous Bilingual Gemini Briefings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645920" y="109728"/>
            <a:ext cx="8046720" cy="868680"/>
          </a:xfrm>
        </p:spPr>
        <p:txBody>
          <a:bodyPr wrap="square"/>
          <a:lstStyle/>
          <a:p>
            <a:pPr eaLnBrk="1" hangingPunct="1" algn="ctr">
              <a:defRPr sz="2800" b="1">
                <a:solidFill>
                  <a:srgbClr val="102C57"/>
                </a:solidFill>
                <a:latin typeface="Segoe UI"/>
              </a:defRPr>
            </a:pPr>
            <a:r>
              <a:t>AeroDex: Real-Time Airfare Price Index (APIx)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502920" y="1051560"/>
            <a:ext cx="11183112" cy="5943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  <a:defRPr sz="1700" b="1">
                <a:solidFill>
                  <a:srgbClr val="1F4E79"/>
                </a:solidFill>
                <a:latin typeface="Segoe UI"/>
              </a:defRPr>
            </a:pPr>
            <a:r>
              <a:t>Proposed Solution (Describe your Idea/Solution/Prototype)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>
              <a:defRPr sz="1100" b="0">
                <a:solidFill>
                  <a:srgbClr val="5A6978"/>
                </a:solidFill>
                <a:latin typeface="Segoe UI"/>
              </a:defRPr>
            </a:pPr>
            <a:r>
              <a:t>Autonomous Multi-Source Airfare Ingestion &amp; Econometric Laspeyres/Fisher Nowcasting for MoSPI CPI (COICOP 07.3.3)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0040" y="182880"/>
            <a:ext cx="1234440" cy="777240"/>
          </a:xfrm>
          <a:prstGeom prst="ellipse">
            <a:avLst/>
          </a:prstGeom>
          <a:solidFill>
            <a:srgbClr val="F0F4FA"/>
          </a:solidFill>
          <a:ln w="19050">
            <a:solidFill>
              <a:srgbClr val="1F4E79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F4E79"/>
                </a:solidFill>
                <a:latin typeface="Segoe UI"/>
              </a:defRPr>
            </a:pPr>
            <a:r>
              <a:t>Team</a:t>
            </a:r>
            <a:br/>
            <a:r>
              <a:t>AeroDex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3" name="Card_Box_0"/>
          <p:cNvSpPr/>
          <p:nvPr/>
        </p:nvSpPr>
        <p:spPr>
          <a:xfrm>
            <a:off x="502920" y="1719072"/>
            <a:ext cx="3547872" cy="4480560"/>
          </a:xfrm>
          <a:prstGeom prst="rect">
            <a:avLst/>
          </a:prstGeom>
          <a:solidFill>
            <a:srgbClr val="FFFFFF"/>
          </a:solidFill>
          <a:ln w="1524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4" name="Card_Head_0"/>
          <p:cNvSpPr/>
          <p:nvPr/>
        </p:nvSpPr>
        <p:spPr>
          <a:xfrm>
            <a:off x="502920" y="1719072"/>
            <a:ext cx="3547872" cy="621792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1. Detailed Explanation of Solution</a:t>
            </a:r>
          </a:p>
          <a:p>
            <a:pPr algn="ctr">
              <a:defRPr sz="950" i="1">
                <a:solidFill>
                  <a:srgbClr val="DCE6F5"/>
                </a:solidFill>
                <a:latin typeface="Segoe UI"/>
              </a:defRPr>
            </a:pPr>
            <a:r>
              <a:t>Microdata Scraping &amp; Econometric Engine</a:t>
            </a:r>
          </a:p>
        </p:txBody>
      </p:sp>
      <p:sp>
        <p:nvSpPr>
          <p:cNvPr id="15365" name="Card_Txt_0"/>
          <p:cNvSpPr txBox="1"/>
          <p:nvPr/>
        </p:nvSpPr>
        <p:spPr>
          <a:xfrm>
            <a:off x="612648" y="2414016"/>
            <a:ext cx="3328416" cy="3264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950" b="1">
                <a:solidFill>
                  <a:srgbClr val="1F4E79"/>
                </a:solidFill>
                <a:latin typeface="Segoe UI"/>
              </a:rPr>
              <a:t>• </a:t>
            </a:r>
            <a:r>
              <a:rPr sz="950" b="1">
                <a:solidFill>
                  <a:srgbClr val="141E2D"/>
                </a:solidFill>
                <a:latin typeface="Segoe UI"/>
              </a:rPr>
              <a:t>Multi-Source Ingestion Pipeline: </a:t>
            </a:r>
            <a:r>
              <a:rPr sz="900" b="0">
                <a:solidFill>
                  <a:srgbClr val="414B55"/>
                </a:solidFill>
                <a:latin typeface="Segoe UI"/>
              </a:rPr>
              <a:t>Automated daily collection across Google Flights, EaseMyTrip, and MakeMyTrip covering 50 major domestic trunk &amp; regional routes.</a:t>
            </a:r>
          </a:p>
          <a:p>
            <a:pPr>
              <a:spcAft>
                <a:spcPts val="500"/>
              </a:spcAft>
            </a:pPr>
            <a:r>
              <a:rPr sz="950" b="1">
                <a:solidFill>
                  <a:srgbClr val="1F4E79"/>
                </a:solidFill>
                <a:latin typeface="Segoe UI"/>
              </a:rPr>
              <a:t>• </a:t>
            </a:r>
            <a:r>
              <a:rPr sz="950" b="1">
                <a:solidFill>
                  <a:srgbClr val="141E2D"/>
                </a:solidFill>
                <a:latin typeface="Segoe UI"/>
              </a:rPr>
              <a:t>Granular Microdata Fare Splitting: </a:t>
            </a:r>
            <a:r>
              <a:rPr sz="900" b="0">
                <a:solidFill>
                  <a:srgbClr val="414B55"/>
                </a:solidFill>
                <a:latin typeface="Segoe UI"/>
              </a:rPr>
              <a:t>Isolates Statutory Base Fares from Fuel Surcharges (YQ), Airport Fees (UDF/PSF), and GST (5%/12%) to measure true passenger transport costs.</a:t>
            </a:r>
          </a:p>
          <a:p>
            <a:pPr>
              <a:spcAft>
                <a:spcPts val="500"/>
              </a:spcAft>
            </a:pPr>
            <a:r>
              <a:rPr sz="950" b="1">
                <a:solidFill>
                  <a:srgbClr val="1F4E79"/>
                </a:solidFill>
                <a:latin typeface="Segoe UI"/>
              </a:rPr>
              <a:t>• </a:t>
            </a:r>
            <a:r>
              <a:rPr sz="950" b="1">
                <a:solidFill>
                  <a:srgbClr val="141E2D"/>
                </a:solidFill>
                <a:latin typeface="Segoe UI"/>
              </a:rPr>
              <a:t>Econometric Index Engine: </a:t>
            </a:r>
            <a:r>
              <a:rPr sz="900" b="0">
                <a:solidFill>
                  <a:srgbClr val="414B55"/>
                </a:solidFill>
                <a:latin typeface="Segoe UI"/>
              </a:rPr>
              <a:t>Computes monthly Laspeyres, Paasche, and superlative Fisher price indices weighted by DGCA route seat capacity and airline market share.</a:t>
            </a:r>
          </a:p>
          <a:p>
            <a:pPr>
              <a:spcAft>
                <a:spcPts val="500"/>
              </a:spcAft>
            </a:pPr>
            <a:r>
              <a:rPr sz="950" b="1">
                <a:solidFill>
                  <a:srgbClr val="1F4E79"/>
                </a:solidFill>
                <a:latin typeface="Segoe UI"/>
              </a:rPr>
              <a:t>• </a:t>
            </a:r>
            <a:r>
              <a:rPr sz="950" b="1">
                <a:solidFill>
                  <a:srgbClr val="141E2D"/>
                </a:solidFill>
                <a:latin typeface="Segoe UI"/>
              </a:rPr>
              <a:t>Empirical Microdata Warehouse: </a:t>
            </a:r>
            <a:r>
              <a:rPr sz="900" b="0">
                <a:solidFill>
                  <a:srgbClr val="414B55"/>
                </a:solidFill>
                <a:latin typeface="Segoe UI"/>
              </a:rPr>
              <a:t>Unified SQLite database tracking historical fare curves, flight frequencies, seat density, and airline operational changes over time.</a:t>
            </a:r>
          </a:p>
        </p:txBody>
      </p:sp>
      <p:sp>
        <p:nvSpPr>
          <p:cNvPr id="15366" name="Card_Badge_0"/>
          <p:cNvSpPr/>
          <p:nvPr/>
        </p:nvSpPr>
        <p:spPr>
          <a:xfrm>
            <a:off x="612648" y="5742432"/>
            <a:ext cx="3328416" cy="347472"/>
          </a:xfrm>
          <a:prstGeom prst="roundRect">
            <a:avLst/>
          </a:prstGeom>
          <a:solidFill>
            <a:srgbClr val="EBF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84C8C"/>
                </a:solidFill>
                <a:latin typeface="Segoe UI"/>
              </a:defRPr>
            </a:pPr>
            <a:r>
              <a:t>Coverage: 50+ Routes • 14.5k+ Daily Quotes</a:t>
            </a:r>
          </a:p>
        </p:txBody>
      </p:sp>
      <p:sp>
        <p:nvSpPr>
          <p:cNvPr id="15367" name="Card_Box_1"/>
          <p:cNvSpPr/>
          <p:nvPr/>
        </p:nvSpPr>
        <p:spPr>
          <a:xfrm>
            <a:off x="4315968" y="1719072"/>
            <a:ext cx="3547872" cy="4480560"/>
          </a:xfrm>
          <a:prstGeom prst="rect">
            <a:avLst/>
          </a:prstGeom>
          <a:solidFill>
            <a:srgbClr val="FFFFFF"/>
          </a:solidFill>
          <a:ln w="1524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8" name="Card_Head_1"/>
          <p:cNvSpPr/>
          <p:nvPr/>
        </p:nvSpPr>
        <p:spPr>
          <a:xfrm>
            <a:off x="4315968" y="1719072"/>
            <a:ext cx="3547872" cy="621792"/>
          </a:xfrm>
          <a:prstGeom prst="rect">
            <a:avLst/>
          </a:prstGeom>
          <a:solidFill>
            <a:srgbClr val="105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2. How It Addresses the Problem</a:t>
            </a:r>
          </a:p>
          <a:p>
            <a:pPr algn="ctr">
              <a:defRPr sz="950" i="1">
                <a:solidFill>
                  <a:srgbClr val="DCE6F5"/>
                </a:solidFill>
                <a:latin typeface="Segoe UI"/>
              </a:defRPr>
            </a:pPr>
            <a:r>
              <a:t>Eliminating MoSPI's 45-Day Survey Lag</a:t>
            </a:r>
          </a:p>
        </p:txBody>
      </p:sp>
      <p:sp>
        <p:nvSpPr>
          <p:cNvPr id="15369" name="Card_Txt_1"/>
          <p:cNvSpPr txBox="1"/>
          <p:nvPr/>
        </p:nvSpPr>
        <p:spPr>
          <a:xfrm>
            <a:off x="4425696" y="2414016"/>
            <a:ext cx="3328416" cy="3264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950" b="1">
                <a:solidFill>
                  <a:srgbClr val="1F4E79"/>
                </a:solidFill>
                <a:latin typeface="Segoe UI"/>
              </a:rPr>
              <a:t>• </a:t>
            </a:r>
            <a:r>
              <a:rPr sz="950" b="1">
                <a:solidFill>
                  <a:srgbClr val="141E2D"/>
                </a:solidFill>
                <a:latin typeface="Segoe UI"/>
              </a:rPr>
              <a:t>Zero Survey Latency (T+0 Nowcast): </a:t>
            </a:r>
            <a:r>
              <a:rPr sz="900" b="0">
                <a:solidFill>
                  <a:srgbClr val="414B55"/>
                </a:solidFill>
                <a:latin typeface="Segoe UI"/>
              </a:rPr>
              <a:t>Replaces manual, lagging field agent ticket sampling with automated daily price discovery, updating MoSPI CPI 07.3.3 in real time.</a:t>
            </a:r>
          </a:p>
          <a:p>
            <a:pPr>
              <a:spcAft>
                <a:spcPts val="500"/>
              </a:spcAft>
            </a:pPr>
            <a:r>
              <a:rPr sz="950" b="1">
                <a:solidFill>
                  <a:srgbClr val="1F4E79"/>
                </a:solidFill>
                <a:latin typeface="Segoe UI"/>
              </a:rPr>
              <a:t>• </a:t>
            </a:r>
            <a:r>
              <a:rPr sz="950" b="1">
                <a:solidFill>
                  <a:srgbClr val="141E2D"/>
                </a:solidFill>
                <a:latin typeface="Segoe UI"/>
              </a:rPr>
              <a:t>Mitigating Dynamic Pricing Bias: </a:t>
            </a:r>
            <a:r>
              <a:rPr sz="900" b="0">
                <a:solidFill>
                  <a:srgbClr val="414B55"/>
                </a:solidFill>
                <a:latin typeface="Segoe UI"/>
              </a:rPr>
              <a:t>Captures stratified departure horizons (T-30, T-15, T-7, T-3, T-1, T-0 days) to prevent last-minute surge spikes from biasing monthly inflation.</a:t>
            </a:r>
          </a:p>
          <a:p>
            <a:pPr>
              <a:spcAft>
                <a:spcPts val="500"/>
              </a:spcAft>
            </a:pPr>
            <a:r>
              <a:rPr sz="950" b="1">
                <a:solidFill>
                  <a:srgbClr val="1F4E79"/>
                </a:solidFill>
                <a:latin typeface="Segoe UI"/>
              </a:rPr>
              <a:t>• </a:t>
            </a:r>
            <a:r>
              <a:rPr sz="950" b="1">
                <a:solidFill>
                  <a:srgbClr val="141E2D"/>
                </a:solidFill>
                <a:latin typeface="Segoe UI"/>
              </a:rPr>
              <a:t>Automated Quality Cleansing: </a:t>
            </a:r>
            <a:r>
              <a:rPr sz="900" b="0">
                <a:solidFill>
                  <a:srgbClr val="414B55"/>
                </a:solidFill>
                <a:latin typeface="Segoe UI"/>
              </a:rPr>
              <a:t>Applies Tukey's 1.5× IQR outlier trimming, flight cancellation scrubbers, and route basket re-weighting for econometric soundness.</a:t>
            </a:r>
          </a:p>
          <a:p>
            <a:pPr>
              <a:spcAft>
                <a:spcPts val="500"/>
              </a:spcAft>
            </a:pPr>
            <a:r>
              <a:rPr sz="950" b="1">
                <a:solidFill>
                  <a:srgbClr val="1F4E79"/>
                </a:solidFill>
                <a:latin typeface="Segoe UI"/>
              </a:rPr>
              <a:t>• </a:t>
            </a:r>
            <a:r>
              <a:rPr sz="950" b="1">
                <a:solidFill>
                  <a:srgbClr val="141E2D"/>
                </a:solidFill>
                <a:latin typeface="Segoe UI"/>
              </a:rPr>
              <a:t>Granular Route Sub-indices: </a:t>
            </a:r>
            <a:r>
              <a:rPr sz="900" b="0">
                <a:solidFill>
                  <a:srgbClr val="414B55"/>
                </a:solidFill>
                <a:latin typeface="Segoe UI"/>
              </a:rPr>
              <a:t>Supplies Metro-Metro, Metro-NonMetro, and Regional Connectivity Scheme (UDAN) price indices for targeted economic policy.</a:t>
            </a:r>
          </a:p>
        </p:txBody>
      </p:sp>
      <p:sp>
        <p:nvSpPr>
          <p:cNvPr id="15370" name="Card_Badge_1"/>
          <p:cNvSpPr/>
          <p:nvPr/>
        </p:nvSpPr>
        <p:spPr>
          <a:xfrm>
            <a:off x="4425696" y="5742432"/>
            <a:ext cx="3328416" cy="347472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07848"/>
                </a:solidFill>
                <a:latin typeface="Segoe UI"/>
              </a:defRPr>
            </a:pPr>
            <a:r>
              <a:t>Impact: Real-Time Nowcast (T+0 vs T+45 Days)</a:t>
            </a:r>
          </a:p>
        </p:txBody>
      </p:sp>
      <p:sp>
        <p:nvSpPr>
          <p:cNvPr id="15371" name="Card_Box_2"/>
          <p:cNvSpPr/>
          <p:nvPr/>
        </p:nvSpPr>
        <p:spPr>
          <a:xfrm>
            <a:off x="8129016" y="1719072"/>
            <a:ext cx="3547872" cy="4480560"/>
          </a:xfrm>
          <a:prstGeom prst="rect">
            <a:avLst/>
          </a:prstGeom>
          <a:solidFill>
            <a:srgbClr val="FFFFFF"/>
          </a:solidFill>
          <a:ln w="1524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2" name="Card_Head_2"/>
          <p:cNvSpPr/>
          <p:nvPr/>
        </p:nvSpPr>
        <p:spPr>
          <a:xfrm>
            <a:off x="8129016" y="1719072"/>
            <a:ext cx="3547872" cy="621792"/>
          </a:xfrm>
          <a:prstGeom prst="rect">
            <a:avLst/>
          </a:prstGeom>
          <a:solidFill>
            <a:srgbClr val="8C2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3. Innovation &amp; Uniqueness</a:t>
            </a:r>
          </a:p>
          <a:p>
            <a:pPr algn="ctr">
              <a:defRPr sz="950" i="1">
                <a:solidFill>
                  <a:srgbClr val="DCE6F5"/>
                </a:solidFill>
                <a:latin typeface="Segoe UI"/>
              </a:defRPr>
            </a:pPr>
            <a:r>
              <a:t>Ethical, Census-Weighted &amp; AI-Driven</a:t>
            </a:r>
          </a:p>
        </p:txBody>
      </p:sp>
      <p:sp>
        <p:nvSpPr>
          <p:cNvPr id="15373" name="Card_Txt_2"/>
          <p:cNvSpPr txBox="1"/>
          <p:nvPr/>
        </p:nvSpPr>
        <p:spPr>
          <a:xfrm>
            <a:off x="8238744" y="2414016"/>
            <a:ext cx="3328416" cy="3264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950" b="1">
                <a:solidFill>
                  <a:srgbClr val="1F4E79"/>
                </a:solidFill>
                <a:latin typeface="Segoe UI"/>
              </a:rPr>
              <a:t>• </a:t>
            </a:r>
            <a:r>
              <a:rPr sz="950" b="1">
                <a:solidFill>
                  <a:srgbClr val="141E2D"/>
                </a:solidFill>
                <a:latin typeface="Segoe UI"/>
              </a:rPr>
              <a:t>RFC 9309 Ethical Ingestion: </a:t>
            </a:r>
            <a:r>
              <a:rPr sz="900" b="0">
                <a:solidFill>
                  <a:srgbClr val="414B55"/>
                </a:solidFill>
                <a:latin typeface="Segoe UI"/>
              </a:rPr>
              <a:t>Engineered with strict robots.txt compliance, adaptive rate-limiting, and randomized UA rotation—eliminating legal &amp; blocking risks for MoSPI.</a:t>
            </a:r>
          </a:p>
          <a:p>
            <a:pPr>
              <a:spcAft>
                <a:spcPts val="500"/>
              </a:spcAft>
            </a:pPr>
            <a:r>
              <a:rPr sz="950" b="1">
                <a:solidFill>
                  <a:srgbClr val="1F4E79"/>
                </a:solidFill>
                <a:latin typeface="Segoe UI"/>
              </a:rPr>
              <a:t>• </a:t>
            </a:r>
            <a:r>
              <a:rPr sz="950" b="1">
                <a:solidFill>
                  <a:srgbClr val="141E2D"/>
                </a:solidFill>
                <a:latin typeface="Segoe UI"/>
              </a:rPr>
              <a:t>DGCA Census Seat-Share Weights: </a:t>
            </a:r>
            <a:r>
              <a:rPr sz="900" b="0">
                <a:solidFill>
                  <a:srgbClr val="414B55"/>
                </a:solidFill>
                <a:latin typeface="Segoe UI"/>
              </a:rPr>
              <a:t>First Indian airfare index weighted by actual DGCA annual passenger seat volumes (136M+ flyers) rather than simple unweighted route averages.</a:t>
            </a:r>
          </a:p>
          <a:p>
            <a:pPr>
              <a:spcAft>
                <a:spcPts val="500"/>
              </a:spcAft>
            </a:pPr>
            <a:r>
              <a:rPr sz="950" b="1">
                <a:solidFill>
                  <a:srgbClr val="1F4E79"/>
                </a:solidFill>
                <a:latin typeface="Segoe UI"/>
              </a:rPr>
              <a:t>• </a:t>
            </a:r>
            <a:r>
              <a:rPr sz="950" b="1">
                <a:solidFill>
                  <a:srgbClr val="141E2D"/>
                </a:solidFill>
                <a:latin typeface="Segoe UI"/>
              </a:rPr>
              <a:t>Autonomous Bilingual Gemini AI: </a:t>
            </a:r>
            <a:r>
              <a:rPr sz="900" b="0">
                <a:solidFill>
                  <a:srgbClr val="414B55"/>
                </a:solidFill>
                <a:latin typeface="Segoe UI"/>
              </a:rPr>
              <a:t>Generates real-time executive inflation briefs and MPC memos in English and Hindi explaining root-cause fare shifts (ATF costs, festival surges).</a:t>
            </a:r>
          </a:p>
          <a:p>
            <a:pPr>
              <a:spcAft>
                <a:spcPts val="500"/>
              </a:spcAft>
            </a:pPr>
            <a:r>
              <a:rPr sz="950" b="1">
                <a:solidFill>
                  <a:srgbClr val="1F4E79"/>
                </a:solidFill>
                <a:latin typeface="Segoe UI"/>
              </a:rPr>
              <a:t>• </a:t>
            </a:r>
            <a:r>
              <a:rPr sz="950" b="1">
                <a:solidFill>
                  <a:srgbClr val="141E2D"/>
                </a:solidFill>
                <a:latin typeface="Segoe UI"/>
              </a:rPr>
              <a:t>Enterprise Policy Readiness: </a:t>
            </a:r>
            <a:r>
              <a:rPr sz="900" b="0">
                <a:solidFill>
                  <a:srgbClr val="414B55"/>
                </a:solidFill>
                <a:latin typeface="Segoe UI"/>
              </a:rPr>
              <a:t>Full-featured FastAPI REST endpoints, interactive analytics dashboard, and automated CSV/JSON audit trails ready for MoSPI DIID adoption.</a:t>
            </a:r>
          </a:p>
        </p:txBody>
      </p:sp>
      <p:sp>
        <p:nvSpPr>
          <p:cNvPr id="15374" name="Card_Badge_2"/>
          <p:cNvSpPr/>
          <p:nvPr/>
        </p:nvSpPr>
        <p:spPr>
          <a:xfrm>
            <a:off x="8238744" y="5742432"/>
            <a:ext cx="3328416" cy="347472"/>
          </a:xfrm>
          <a:prstGeom prst="roundRect">
            <a:avLst/>
          </a:prstGeom>
          <a:solidFill>
            <a:srgbClr val="FE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B4321E"/>
                </a:solidFill>
                <a:latin typeface="Segoe UI"/>
              </a:defRPr>
            </a:pPr>
            <a:r>
              <a:t>Tech: RFC 9309 • DGCA Census • Gemini GenAI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45920" y="109728"/>
            <a:ext cx="8046720" cy="868680"/>
          </a:xfrm>
        </p:spPr>
        <p:txBody>
          <a:bodyPr wrap="square"/>
          <a:lstStyle/>
          <a:p>
            <a:pPr eaLnBrk="1" hangingPunct="1" algn="ctr">
              <a:defRPr sz="2800" b="1">
                <a:solidFill>
                  <a:srgbClr val="102C57"/>
                </a:solidFill>
                <a:latin typeface="Segoe UI"/>
              </a:defRPr>
            </a:pPr>
            <a:r>
              <a:t>AeroDex: Real-Time Airfare Price Index (APIx)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02920" y="1051560"/>
            <a:ext cx="11183112" cy="5943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  <a:defRPr sz="1700" b="1">
                <a:solidFill>
                  <a:srgbClr val="1F4E79"/>
                </a:solidFill>
                <a:latin typeface="Segoe UI"/>
              </a:defRPr>
            </a:pPr>
            <a:r>
              <a:t>Technical Approach (Technologies, Methodology &amp; Working Prototype)</a:t>
            </a:r>
          </a:p>
          <a:p>
            <a:pPr>
              <a:defRPr sz="1100" b="0">
                <a:solidFill>
                  <a:srgbClr val="5A6978"/>
                </a:solidFill>
                <a:latin typeface="Segoe UI"/>
              </a:defRPr>
            </a:pPr>
            <a:r>
              <a:t>Modular Data Ingestion, Econometric Microdata Cleansing, DGCA Census Weighting &amp; GenAI Policy Briefing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0040" y="182880"/>
            <a:ext cx="1234440" cy="777240"/>
          </a:xfrm>
          <a:prstGeom prst="ellipse">
            <a:avLst/>
          </a:prstGeom>
          <a:solidFill>
            <a:srgbClr val="F0F4FA"/>
          </a:solidFill>
          <a:ln w="19050">
            <a:solidFill>
              <a:srgbClr val="1F4E79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F4E79"/>
                </a:solidFill>
                <a:latin typeface="Segoe UI"/>
              </a:defRPr>
            </a:pPr>
            <a:r>
              <a:t>Team</a:t>
            </a:r>
            <a:br/>
            <a:r>
              <a:t>AeroDex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Tech_Box_1"/>
          <p:cNvSpPr/>
          <p:nvPr/>
        </p:nvSpPr>
        <p:spPr>
          <a:xfrm>
            <a:off x="502920" y="1719072"/>
            <a:ext cx="4343400" cy="4480560"/>
          </a:xfrm>
          <a:prstGeom prst="rect">
            <a:avLst/>
          </a:prstGeom>
          <a:solidFill>
            <a:srgbClr val="FFFFFF"/>
          </a:solidFill>
          <a:ln w="1524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Tech_Head_1"/>
          <p:cNvSpPr/>
          <p:nvPr/>
        </p:nvSpPr>
        <p:spPr>
          <a:xfrm>
            <a:off x="502920" y="1719072"/>
            <a:ext cx="4343400" cy="621792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FFFFFF"/>
                </a:solidFill>
                <a:latin typeface="Segoe UI"/>
              </a:defRPr>
            </a:pPr>
            <a:r>
              <a:t>1. Technologies &amp; Cloud Architecture</a:t>
            </a:r>
          </a:p>
          <a:p>
            <a:pPr algn="ctr">
              <a:defRPr sz="950" i="1">
                <a:solidFill>
                  <a:srgbClr val="DCE6F5"/>
                </a:solidFill>
                <a:latin typeface="Segoe UI"/>
              </a:defRPr>
            </a:pPr>
            <a:r>
              <a:t>Enterprise-Grade, Open-Source &amp; Government-Ready Stack</a:t>
            </a:r>
          </a:p>
        </p:txBody>
      </p:sp>
      <p:sp>
        <p:nvSpPr>
          <p:cNvPr id="17413" name="Tech_Txt_1"/>
          <p:cNvSpPr txBox="1"/>
          <p:nvPr/>
        </p:nvSpPr>
        <p:spPr>
          <a:xfrm>
            <a:off x="630936" y="2414016"/>
            <a:ext cx="4087368" cy="3310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0"/>
              </a:spcAft>
            </a:pPr>
            <a:r>
              <a:rPr sz="850" b="1">
                <a:solidFill>
                  <a:srgbClr val="1F4E79"/>
                </a:solidFill>
                <a:latin typeface="Segoe UI"/>
              </a:rPr>
              <a:t>▪ </a:t>
            </a:r>
            <a:r>
              <a:rPr sz="850" b="1">
                <a:solidFill>
                  <a:srgbClr val="141E2D"/>
                </a:solidFill>
                <a:latin typeface="Segoe UI"/>
              </a:rPr>
              <a:t>Core Language &amp; Runtime: </a:t>
            </a:r>
            <a:r>
              <a:rPr sz="819" b="0">
                <a:solidFill>
                  <a:srgbClr val="414B55"/>
                </a:solidFill>
                <a:latin typeface="Segoe UI"/>
              </a:rPr>
              <a:t>Python 3.12 (asynchronous asyncio event loop, strict typing, high concurrency).</a:t>
            </a:r>
          </a:p>
          <a:p>
            <a:pPr>
              <a:spcAft>
                <a:spcPts val="350"/>
              </a:spcAft>
            </a:pPr>
            <a:r>
              <a:rPr sz="850" b="1">
                <a:solidFill>
                  <a:srgbClr val="1F4E79"/>
                </a:solidFill>
                <a:latin typeface="Segoe UI"/>
              </a:rPr>
              <a:t>▪ </a:t>
            </a:r>
            <a:r>
              <a:rPr sz="850" b="1">
                <a:solidFill>
                  <a:srgbClr val="141E2D"/>
                </a:solidFill>
                <a:latin typeface="Segoe UI"/>
              </a:rPr>
              <a:t>Web Scraping &amp; Anti-Bot: </a:t>
            </a:r>
            <a:r>
              <a:rPr sz="819" b="0">
                <a:solidFill>
                  <a:srgbClr val="414B55"/>
                </a:solidFill>
                <a:latin typeface="Segoe UI"/>
              </a:rPr>
              <a:t>Playwright (Headless Chromium), HTTPX, RFC 9309 RobotGuard, 6 Desktop Profiles Header &amp; Fingerprint Rotation (Direct Egress).</a:t>
            </a:r>
          </a:p>
          <a:p>
            <a:pPr>
              <a:spcAft>
                <a:spcPts val="350"/>
              </a:spcAft>
            </a:pPr>
            <a:r>
              <a:rPr sz="850" b="1">
                <a:solidFill>
                  <a:srgbClr val="1F4E79"/>
                </a:solidFill>
                <a:latin typeface="Segoe UI"/>
              </a:rPr>
              <a:t>▪ </a:t>
            </a:r>
            <a:r>
              <a:rPr sz="850" b="1">
                <a:solidFill>
                  <a:srgbClr val="141E2D"/>
                </a:solidFill>
                <a:latin typeface="Segoe UI"/>
              </a:rPr>
              <a:t>Econometrics &amp; Statistics: </a:t>
            </a:r>
            <a:r>
              <a:rPr sz="819" b="0">
                <a:solidFill>
                  <a:srgbClr val="414B55"/>
                </a:solidFill>
                <a:latin typeface="Segoe UI"/>
              </a:rPr>
              <a:t>NumPy &amp; SciPy for Tukey 1.5× IQR outlier trimming; Laspeyres, Paasche, and Superlative Fisher price index engines.</a:t>
            </a:r>
          </a:p>
          <a:p>
            <a:pPr>
              <a:spcAft>
                <a:spcPts val="350"/>
              </a:spcAft>
            </a:pPr>
            <a:r>
              <a:rPr sz="850" b="1">
                <a:solidFill>
                  <a:srgbClr val="1F4E79"/>
                </a:solidFill>
                <a:latin typeface="Segoe UI"/>
              </a:rPr>
              <a:t>▪ </a:t>
            </a:r>
            <a:r>
              <a:rPr sz="850" b="1">
                <a:solidFill>
                  <a:srgbClr val="141E2D"/>
                </a:solidFill>
                <a:latin typeface="Segoe UI"/>
              </a:rPr>
              <a:t>Microdata Storage &amp; DB: </a:t>
            </a:r>
            <a:r>
              <a:rPr sz="819" b="0">
                <a:solidFill>
                  <a:srgbClr val="414B55"/>
                </a:solidFill>
                <a:latin typeface="Segoe UI"/>
              </a:rPr>
              <a:t>SQLite with Write-Ahead Logging (WAL) concurrency, raw JSON microdata store, and SHA-256 audit integrity seal.</a:t>
            </a:r>
          </a:p>
          <a:p>
            <a:pPr>
              <a:spcAft>
                <a:spcPts val="350"/>
              </a:spcAft>
            </a:pPr>
            <a:r>
              <a:rPr sz="850" b="1">
                <a:solidFill>
                  <a:srgbClr val="1F4E79"/>
                </a:solidFill>
                <a:latin typeface="Segoe UI"/>
              </a:rPr>
              <a:t>▪ </a:t>
            </a:r>
            <a:r>
              <a:rPr sz="850" b="1">
                <a:solidFill>
                  <a:srgbClr val="141E2D"/>
                </a:solidFill>
                <a:latin typeface="Segoe UI"/>
              </a:rPr>
              <a:t>Backend REST API: </a:t>
            </a:r>
            <a:r>
              <a:rPr sz="819" b="0">
                <a:solidFill>
                  <a:srgbClr val="414B55"/>
                </a:solidFill>
                <a:latin typeface="Segoe UI"/>
              </a:rPr>
              <a:t>FastAPI (ASGI, sub-20ms P99 latency), Pydantic v2 schemas, automated OpenAPI/Swagger documentation.</a:t>
            </a:r>
          </a:p>
          <a:p>
            <a:pPr>
              <a:spcAft>
                <a:spcPts val="350"/>
              </a:spcAft>
            </a:pPr>
            <a:r>
              <a:rPr sz="850" b="1">
                <a:solidFill>
                  <a:srgbClr val="1F4E79"/>
                </a:solidFill>
                <a:latin typeface="Segoe UI"/>
              </a:rPr>
              <a:t>▪ </a:t>
            </a:r>
            <a:r>
              <a:rPr sz="850" b="1">
                <a:solidFill>
                  <a:srgbClr val="141E2D"/>
                </a:solidFill>
                <a:latin typeface="Segoe UI"/>
              </a:rPr>
              <a:t>Frontend &amp; Dashboards: </a:t>
            </a:r>
            <a:r>
              <a:rPr sz="819" b="0">
                <a:solidFill>
                  <a:srgbClr val="414B55"/>
                </a:solidFill>
                <a:latin typeface="Segoe UI"/>
              </a:rPr>
              <a:t>Tailwind CSS, Chart.js for multi-horizon price curves and shock replays, responsive vanilla JS components.</a:t>
            </a:r>
          </a:p>
          <a:p>
            <a:pPr>
              <a:spcAft>
                <a:spcPts val="350"/>
              </a:spcAft>
            </a:pPr>
            <a:r>
              <a:rPr sz="850" b="1">
                <a:solidFill>
                  <a:srgbClr val="1F4E79"/>
                </a:solidFill>
                <a:latin typeface="Segoe UI"/>
              </a:rPr>
              <a:t>▪ </a:t>
            </a:r>
            <a:r>
              <a:rPr sz="850" b="1">
                <a:solidFill>
                  <a:srgbClr val="141E2D"/>
                </a:solidFill>
                <a:latin typeface="Segoe UI"/>
              </a:rPr>
              <a:t>Generative AI Engine: </a:t>
            </a:r>
            <a:r>
              <a:rPr sz="819" b="0">
                <a:solidFill>
                  <a:srgbClr val="414B55"/>
                </a:solidFill>
                <a:latin typeface="Segoe UI"/>
              </a:rPr>
              <a:t>Google Gemini 2.5 Flash via official SDK for automated bilingual (English/Hindi) macro inflation and MPC policy memos.</a:t>
            </a:r>
          </a:p>
          <a:p>
            <a:pPr>
              <a:spcAft>
                <a:spcPts val="350"/>
              </a:spcAft>
            </a:pPr>
            <a:r>
              <a:rPr sz="850" b="1">
                <a:solidFill>
                  <a:srgbClr val="1F4E79"/>
                </a:solidFill>
                <a:latin typeface="Segoe UI"/>
              </a:rPr>
              <a:t>▪ </a:t>
            </a:r>
            <a:r>
              <a:rPr sz="850" b="1">
                <a:solidFill>
                  <a:srgbClr val="141E2D"/>
                </a:solidFill>
                <a:latin typeface="Segoe UI"/>
              </a:rPr>
              <a:t>Deployment &amp; Hardware: </a:t>
            </a:r>
            <a:r>
              <a:rPr sz="819" b="0">
                <a:solidFill>
                  <a:srgbClr val="414B55"/>
                </a:solidFill>
                <a:latin typeface="Segoe UI"/>
              </a:rPr>
              <a:t>Dockerized container deployment, Linux VM (AWS / NIC MeghRaj Cloud), 100% offline-resilient seed dataset fallback.</a:t>
            </a:r>
          </a:p>
        </p:txBody>
      </p:sp>
      <p:sp>
        <p:nvSpPr>
          <p:cNvPr id="17414" name="Tech_Badge_1"/>
          <p:cNvSpPr/>
          <p:nvPr/>
        </p:nvSpPr>
        <p:spPr>
          <a:xfrm>
            <a:off x="630936" y="5779008"/>
            <a:ext cx="4087368" cy="329184"/>
          </a:xfrm>
          <a:prstGeom prst="roundRect">
            <a:avLst/>
          </a:prstGeom>
          <a:solidFill>
            <a:srgbClr val="EBF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84C8C"/>
                </a:solidFill>
                <a:latin typeface="Segoe UI"/>
              </a:defRPr>
            </a:pPr>
            <a:r>
              <a:t>✓ 100% Open-Source &amp; Scalable • Zero Commercial API Costs</a:t>
            </a:r>
          </a:p>
        </p:txBody>
      </p:sp>
      <p:sp>
        <p:nvSpPr>
          <p:cNvPr id="17415" name="Pipe_Box_2"/>
          <p:cNvSpPr/>
          <p:nvPr/>
        </p:nvSpPr>
        <p:spPr>
          <a:xfrm>
            <a:off x="5029200" y="1719072"/>
            <a:ext cx="6656832" cy="4480560"/>
          </a:xfrm>
          <a:prstGeom prst="rect">
            <a:avLst/>
          </a:prstGeom>
          <a:solidFill>
            <a:srgbClr val="FFFFFF"/>
          </a:solidFill>
          <a:ln w="1524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6" name="Pipe_Head_2"/>
          <p:cNvSpPr/>
          <p:nvPr/>
        </p:nvSpPr>
        <p:spPr>
          <a:xfrm>
            <a:off x="5029200" y="1719072"/>
            <a:ext cx="6656832" cy="621792"/>
          </a:xfrm>
          <a:prstGeom prst="rect">
            <a:avLst/>
          </a:prstGeom>
          <a:solidFill>
            <a:srgbClr val="105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FFFFFF"/>
                </a:solidFill>
                <a:latin typeface="Segoe UI"/>
              </a:defRPr>
            </a:pPr>
            <a:r>
              <a:t>2. Methodology &amp; Implementation Process (Data Pipeline)</a:t>
            </a:r>
          </a:p>
          <a:p>
            <a:pPr algn="ctr">
              <a:defRPr sz="950" i="1">
                <a:solidFill>
                  <a:srgbClr val="DCF5E6"/>
                </a:solidFill>
                <a:latin typeface="Segoe UI"/>
              </a:defRPr>
            </a:pPr>
            <a:r>
              <a:t>4-Stage Autonomous Econometric Pipeline (T+0 Ingestion to Policy Delivery)</a:t>
            </a:r>
          </a:p>
        </p:txBody>
      </p:sp>
      <p:sp>
        <p:nvSpPr>
          <p:cNvPr id="17417" name="Step_Box_0"/>
          <p:cNvSpPr/>
          <p:nvPr/>
        </p:nvSpPr>
        <p:spPr>
          <a:xfrm>
            <a:off x="5157216" y="2414016"/>
            <a:ext cx="6400800" cy="740664"/>
          </a:xfrm>
          <a:prstGeom prst="roundRect">
            <a:avLst/>
          </a:prstGeom>
          <a:solidFill>
            <a:srgbClr val="F0F7FF"/>
          </a:solidFill>
          <a:ln w="12700">
            <a:solidFill>
              <a:srgbClr val="B4D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50"/>
              </a:spcAft>
            </a:pPr>
            <a:r>
              <a:rPr sz="850" b="1">
                <a:solidFill>
                  <a:srgbClr val="184C8C"/>
                </a:solidFill>
                <a:latin typeface="Segoe UI"/>
              </a:rPr>
              <a:t>[STAGE 1] </a:t>
            </a:r>
            <a:r>
              <a:rPr sz="900" b="1">
                <a:solidFill>
                  <a:srgbClr val="141E2D"/>
                </a:solidFill>
                <a:latin typeface="Segoe UI"/>
              </a:rPr>
              <a:t>Ethical Multi-Source Ingestion &amp; Direct Links  </a:t>
            </a:r>
            <a:r>
              <a:rPr sz="800" b="1">
                <a:solidFill>
                  <a:srgbClr val="184C8C"/>
                </a:solidFill>
                <a:latin typeface="Segoe UI"/>
              </a:rPr>
              <a:t>• 4 Live Scrapers • 7 Deeplinks</a:t>
            </a:r>
          </a:p>
          <a:p>
            <a:r>
              <a:rPr sz="780" b="0">
                <a:solidFill>
                  <a:srgbClr val="3C4650"/>
                </a:solidFill>
                <a:latin typeface="Segoe UI"/>
              </a:rPr>
              <a:t>Active live scraping on Google Flights, EaseMyTrip, Cleartrip &amp; SpiceJet via Playwright; 1-click verification deeplinks across remaining 7 OTA &amp; carrier portals with browser fingerprint rotation.</a:t>
            </a:r>
          </a:p>
        </p:txBody>
      </p:sp>
      <p:sp>
        <p:nvSpPr>
          <p:cNvPr id="17418" name="Step_Box_1"/>
          <p:cNvSpPr/>
          <p:nvPr/>
        </p:nvSpPr>
        <p:spPr>
          <a:xfrm>
            <a:off x="5157216" y="3209544"/>
            <a:ext cx="6400800" cy="740664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4E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50"/>
              </a:spcAft>
            </a:pPr>
            <a:r>
              <a:rPr sz="850" b="1">
                <a:solidFill>
                  <a:srgbClr val="107848"/>
                </a:solidFill>
                <a:latin typeface="Segoe UI"/>
              </a:rPr>
              <a:t>[STAGE 2] </a:t>
            </a:r>
            <a:r>
              <a:rPr sz="900" b="1">
                <a:solidFill>
                  <a:srgbClr val="141E2D"/>
                </a:solidFill>
                <a:latin typeface="Segoe UI"/>
              </a:rPr>
              <a:t>Microdata Decomposition &amp; Quality Cleansing  </a:t>
            </a:r>
            <a:r>
              <a:rPr sz="800" b="1">
                <a:solidFill>
                  <a:srgbClr val="107848"/>
                </a:solidFill>
                <a:latin typeface="Segoe UI"/>
              </a:rPr>
              <a:t>• Base + YQ + Fees + GST = Total</a:t>
            </a:r>
          </a:p>
          <a:p>
            <a:r>
              <a:rPr sz="780" b="0">
                <a:solidFill>
                  <a:srgbClr val="3C4650"/>
                </a:solidFill>
                <a:latin typeface="Segoe UI"/>
              </a:rPr>
              <a:t>Splits statutory fare components: Base + Fuel (YQ) + Fees (UDF/PSF) + GST. Trims outliers using Tukey's 1.5× IQR rule; enforces 4D Data Integrity Scoring (97.7% A+ grade) with SHA-256 cryptographic seal.</a:t>
            </a:r>
          </a:p>
        </p:txBody>
      </p:sp>
      <p:sp>
        <p:nvSpPr>
          <p:cNvPr id="17419" name="Step_Box_2"/>
          <p:cNvSpPr/>
          <p:nvPr/>
        </p:nvSpPr>
        <p:spPr>
          <a:xfrm>
            <a:off x="5157216" y="4005072"/>
            <a:ext cx="6400800" cy="740664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5D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50"/>
              </a:spcAft>
            </a:pPr>
            <a:r>
              <a:rPr sz="850" b="1">
                <a:solidFill>
                  <a:srgbClr val="A06414"/>
                </a:solidFill>
                <a:latin typeface="Segoe UI"/>
              </a:rPr>
              <a:t>[STAGE 3] </a:t>
            </a:r>
            <a:r>
              <a:rPr sz="900" b="1">
                <a:solidFill>
                  <a:srgbClr val="141E2D"/>
                </a:solidFill>
                <a:latin typeface="Segoe UI"/>
              </a:rPr>
              <a:t>Stratified Horizon &amp; DGCA Census Weighting  </a:t>
            </a:r>
            <a:r>
              <a:rPr sz="800" b="1">
                <a:solidFill>
                  <a:srgbClr val="A06414"/>
                </a:solidFill>
                <a:latin typeface="Segoe UI"/>
              </a:rPr>
              <a:t>• 136M+ Passenger Census Weights</a:t>
            </a:r>
          </a:p>
          <a:p>
            <a:r>
              <a:rPr sz="780" b="0">
                <a:solidFill>
                  <a:srgbClr val="3C4650"/>
                </a:solidFill>
                <a:latin typeface="Segoe UI"/>
              </a:rPr>
              <a:t>Samples 6 stratified booking horizons (T-30, T-15, T-7, T-3, T-1, T-0) to eliminate dynamic surge bias. Weights routes by annual DGCA seat capacity (136M+ passengers: Metro 55%, Tier-2 30%, UDAN 15%).</a:t>
            </a:r>
          </a:p>
        </p:txBody>
      </p:sp>
      <p:sp>
        <p:nvSpPr>
          <p:cNvPr id="17420" name="Step_Box_3"/>
          <p:cNvSpPr/>
          <p:nvPr/>
        </p:nvSpPr>
        <p:spPr>
          <a:xfrm>
            <a:off x="5157216" y="4800600"/>
            <a:ext cx="6400800" cy="740664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5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50"/>
              </a:spcAft>
            </a:pPr>
            <a:r>
              <a:rPr sz="850" b="1">
                <a:solidFill>
                  <a:srgbClr val="B42828"/>
                </a:solidFill>
                <a:latin typeface="Segoe UI"/>
              </a:rPr>
              <a:t>[STAGE 4] </a:t>
            </a:r>
            <a:r>
              <a:rPr sz="900" b="1">
                <a:solidFill>
                  <a:srgbClr val="141E2D"/>
                </a:solidFill>
                <a:latin typeface="Segoe UI"/>
              </a:rPr>
              <a:t>Econometric Synthesis &amp; GenAI Policy Briefing  </a:t>
            </a:r>
            <a:r>
              <a:rPr sz="800" b="1">
                <a:solidFill>
                  <a:srgbClr val="B42828"/>
                </a:solidFill>
                <a:latin typeface="Segoe UI"/>
              </a:rPr>
              <a:t>• Superlative Fisher • Gemini Memos</a:t>
            </a:r>
          </a:p>
          <a:p>
            <a:r>
              <a:rPr sz="780" b="0">
                <a:solidFill>
                  <a:srgbClr val="3C4650"/>
                </a:solidFill>
                <a:latin typeface="Segoe UI"/>
              </a:rPr>
              <a:t>Calculates monthly Laspeyres, Paasche, and superlative Fisher price indices (Base 2012=100.0). Feeds real-time indices to Gemini 2.5 Flash to generate autonomous bilingual (EN/HI) MPC inflation briefing memos.</a:t>
            </a:r>
          </a:p>
        </p:txBody>
      </p:sp>
      <p:sp>
        <p:nvSpPr>
          <p:cNvPr id="17421" name="Pipe_Proto_Badge"/>
          <p:cNvSpPr/>
          <p:nvPr/>
        </p:nvSpPr>
        <p:spPr>
          <a:xfrm>
            <a:off x="5157216" y="5779008"/>
            <a:ext cx="6400800" cy="329184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65F46"/>
                </a:solidFill>
                <a:latin typeface="Segoe UI"/>
              </a:defRPr>
            </a:pPr>
            <a:r>
              <a:t>★ WORKING PROTOTYPE LIVE: http://localhost:8000 • 14,500+ Quotes • 50 Routes • 31/31 Test Suite Pass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Analysis of the feasibility of the idea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Potential challenges and risks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Strategies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for overcoming these challenges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Potential impact on the target audience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Benefits of the solution (social, economic, environmental, etc.)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